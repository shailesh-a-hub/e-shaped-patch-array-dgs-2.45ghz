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-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sh a" userId="43c82f3c7150fcad" providerId="LiveId" clId="{9E4A3FBD-179F-45D1-B6F9-47A518B5881E}"/>
    <pc:docChg chg="custSel addSld delSld modSld">
      <pc:chgData name="shailesh a" userId="43c82f3c7150fcad" providerId="LiveId" clId="{9E4A3FBD-179F-45D1-B6F9-47A518B5881E}" dt="2026-09-10T09:15:25.528" v="64" actId="1076"/>
      <pc:docMkLst>
        <pc:docMk/>
      </pc:docMkLst>
      <pc:sldChg chg="modSp mod">
        <pc:chgData name="shailesh a" userId="43c82f3c7150fcad" providerId="LiveId" clId="{9E4A3FBD-179F-45D1-B6F9-47A518B5881E}" dt="2026-09-10T09:06:28.901" v="9" actId="20577"/>
        <pc:sldMkLst>
          <pc:docMk/>
          <pc:sldMk cId="0" sldId="263"/>
        </pc:sldMkLst>
        <pc:spChg chg="mod">
          <ac:chgData name="shailesh a" userId="43c82f3c7150fcad" providerId="LiveId" clId="{9E4A3FBD-179F-45D1-B6F9-47A518B5881E}" dt="2026-09-10T09:06:28.901" v="9" actId="20577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shailesh a" userId="43c82f3c7150fcad" providerId="LiveId" clId="{9E4A3FBD-179F-45D1-B6F9-47A518B5881E}" dt="2026-09-10T09:10:06.410" v="57" actId="207"/>
        <pc:sldMkLst>
          <pc:docMk/>
          <pc:sldMk cId="0" sldId="266"/>
        </pc:sldMkLst>
        <pc:graphicFrameChg chg="modGraphic">
          <ac:chgData name="shailesh a" userId="43c82f3c7150fcad" providerId="LiveId" clId="{9E4A3FBD-179F-45D1-B6F9-47A518B5881E}" dt="2026-09-10T09:10:06.410" v="57" actId="207"/>
          <ac:graphicFrameMkLst>
            <pc:docMk/>
            <pc:sldMk cId="0" sldId="266"/>
            <ac:graphicFrameMk id="12" creationId="{00000000-0000-0000-0000-000000000000}"/>
          </ac:graphicFrameMkLst>
        </pc:graphicFrameChg>
      </pc:sldChg>
      <pc:sldChg chg="del">
        <pc:chgData name="shailesh a" userId="43c82f3c7150fcad" providerId="LiveId" clId="{9E4A3FBD-179F-45D1-B6F9-47A518B5881E}" dt="2026-09-10T09:14:08.250" v="58" actId="2696"/>
        <pc:sldMkLst>
          <pc:docMk/>
          <pc:sldMk cId="0" sldId="269"/>
        </pc:sldMkLst>
      </pc:sldChg>
      <pc:sldChg chg="addSp modSp new mod">
        <pc:chgData name="shailesh a" userId="43c82f3c7150fcad" providerId="LiveId" clId="{9E4A3FBD-179F-45D1-B6F9-47A518B5881E}" dt="2026-09-10T09:15:25.528" v="64" actId="1076"/>
        <pc:sldMkLst>
          <pc:docMk/>
          <pc:sldMk cId="656692229" sldId="271"/>
        </pc:sldMkLst>
        <pc:picChg chg="add mod">
          <ac:chgData name="shailesh a" userId="43c82f3c7150fcad" providerId="LiveId" clId="{9E4A3FBD-179F-45D1-B6F9-47A518B5881E}" dt="2026-09-10T09:15:25.528" v="64" actId="1076"/>
          <ac:picMkLst>
            <pc:docMk/>
            <pc:sldMk cId="656692229" sldId="271"/>
            <ac:picMk id="3" creationId="{CC855040-25FC-5B38-FDC1-DF12ECCB0FC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046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663440"/>
            <a:ext cx="4389120" cy="438912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840480"/>
            <a:ext cx="6035040" cy="603504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017520"/>
            <a:ext cx="7680960" cy="768096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2194560"/>
            <a:ext cx="9326880" cy="932688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MICROSTRIP PATCH ANTENNA FOR</a:t>
            </a:r>
            <a:endParaRPr lang="en-US" sz="36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BLUETOOTH/ZIGBEE IoT NODES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3383280"/>
            <a:ext cx="1280160" cy="457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56616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on FR-4 PCB — 2.45 GHz Inset-Fed Patch Antenna: Design, Simulation &amp; Fabrication-Ready Validation in ANSYS HFSS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 •   ANSYS Electronics Desktop 2025 R2.4 (Student)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9144000" cy="1204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Team members:</a:t>
            </a:r>
          </a:p>
          <a:p>
            <a:endParaRPr lang="en-US" sz="1100" dirty="0">
              <a:solidFill>
                <a:schemeClr val="bg1"/>
              </a:solidFill>
            </a:endParaRPr>
          </a:p>
          <a:p>
            <a:r>
              <a:rPr lang="en-US" sz="1100" dirty="0">
                <a:solidFill>
                  <a:schemeClr val="bg1"/>
                </a:solidFill>
              </a:rPr>
              <a:t>Khanna M (24BEC0187)</a:t>
            </a:r>
          </a:p>
          <a:p>
            <a:r>
              <a:rPr lang="en-US" sz="1100" dirty="0">
                <a:solidFill>
                  <a:schemeClr val="bg1"/>
                </a:solidFill>
              </a:rPr>
              <a:t>Nishanth A (24BEC0595)</a:t>
            </a:r>
          </a:p>
          <a:p>
            <a:r>
              <a:rPr lang="en-US" sz="1100" dirty="0">
                <a:solidFill>
                  <a:schemeClr val="bg1"/>
                </a:solidFill>
              </a:rPr>
              <a:t>Sashank P S (24BEC0636)</a:t>
            </a:r>
          </a:p>
          <a:p>
            <a:r>
              <a:rPr lang="en-US" sz="1100" dirty="0">
                <a:solidFill>
                  <a:schemeClr val="bg1"/>
                </a:solidFill>
              </a:rPr>
              <a:t>Tarun Sathish (24BEC0631)</a:t>
            </a:r>
          </a:p>
          <a:p>
            <a:r>
              <a:rPr lang="en-US" sz="1100" dirty="0">
                <a:solidFill>
                  <a:schemeClr val="bg1"/>
                </a:solidFill>
              </a:rPr>
              <a:t>Shailesh A (24BEC0665)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70992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1636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07008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low-cost FR-4 patch antennas suit IoT nodes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26060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07008" y="2532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07008" y="28163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design and simulation set out to achieve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4670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5021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3429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Parameters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07008" y="37124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Substrate, patch, and feed geometry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24281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22" name="Shape 20"/>
          <p:cNvSpPr/>
          <p:nvPr/>
        </p:nvSpPr>
        <p:spPr>
          <a:xfrm>
            <a:off x="713232" y="439826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4325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Setup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207008" y="46085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HFSS modeling and solve methodology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15544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27" name="Shape 25"/>
          <p:cNvSpPr/>
          <p:nvPr/>
        </p:nvSpPr>
        <p:spPr>
          <a:xfrm>
            <a:off x="6108192" y="1709928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6108192" y="1709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01968" y="16367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601968" y="19202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loss, VSWR, and radiation performance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0" y="2450592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32" name="Shape 30"/>
          <p:cNvSpPr/>
          <p:nvPr/>
        </p:nvSpPr>
        <p:spPr>
          <a:xfrm>
            <a:off x="6108192" y="260604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6108192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01968" y="25328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601968" y="281635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metrics vs. requirements at a glance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943600" y="3346704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37" name="Shape 35"/>
          <p:cNvSpPr/>
          <p:nvPr/>
        </p:nvSpPr>
        <p:spPr>
          <a:xfrm>
            <a:off x="6108192" y="3502152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192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01968" y="34290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Fabrication Readiness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01968" y="371246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proven, and how it moves to a PCB prototype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943600" y="424281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3F5FC"/>
          </a:solidFill>
          <a:ln/>
        </p:spPr>
      </p:sp>
      <p:sp>
        <p:nvSpPr>
          <p:cNvPr id="42" name="Shape 40"/>
          <p:cNvSpPr/>
          <p:nvPr/>
        </p:nvSpPr>
        <p:spPr>
          <a:xfrm>
            <a:off x="6108192" y="4398264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43" name="Text 41"/>
          <p:cNvSpPr/>
          <p:nvPr/>
        </p:nvSpPr>
        <p:spPr>
          <a:xfrm>
            <a:off x="6108192" y="43982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601968" y="4325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Team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01968" y="46085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steps, and who did what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66751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nodes for Bluetooth Low Energy (BLE) and Zigbee (IEEE 802.15.4) applications need antennas that are compact, low-cost, and easy to mass-produce alongside the rest of the PCB assembly.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microstrip patch antenna printed directly onto standard FR-4 substrate meets all three needs: it uses the same low-cost material and fabrication process as the host PCB, requires no separate antenna component, and keeps the whole design low-profile and planar.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2.4–2.4835 GHz ISM band is shared by BLE and Zigbee, so a single antenna tuned to 2.45 GHz can serve both radio standards — a common choice for smart-home, industrial, and wearable IoT nodes.</a:t>
            </a:r>
            <a:endParaRPr lang="en-US" sz="1500" dirty="0"/>
          </a:p>
          <a:p>
            <a:pPr marL="342900" indent="-342900">
              <a:lnSpc>
                <a:spcPct val="128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designs, simulates, and validates such an antenna in ANSYS HFSS, with a layout intended for direct fabrication on 1.6 mm FR-4 PCB using a standard 50 Ω SMA edge connector.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508760"/>
            <a:ext cx="4069080" cy="4709160"/>
          </a:xfrm>
          <a:prstGeom prst="roundRect">
            <a:avLst>
              <a:gd name="adj" fmla="val 2247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PATCH ON FR-4?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0" y="2176272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28432" y="2075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028432" y="2368296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FR-4 is the standard, cheapest PCB substrate available.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772400" y="3072384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028432" y="2971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Planar &amp; compact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28432" y="3264408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Etched directly onto the PCB — no separate antenna part.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0" y="3968496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28432" y="3867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Dual-standard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28432" y="4160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2.45 GHz covers both BLE and Zigbee in one design.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0" y="4864608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028432" y="4764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028432" y="5056632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photolithography / PCB milling, SMA connector.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compact 2.45 GHz microstrip patch antenna on low-cost FR-4 substrate, matched to a 50 Ω feed.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5FC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6616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154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solve the structure in ANSYS HFSS using Driven Modal analysis across the 2.0–3.0 GHz band.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0080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0" y="3154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resonance, impedance match (VSWR), and radiation behavior meet ISM-band requirements.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691640"/>
            <a:ext cx="2606040" cy="4206240"/>
          </a:xfrm>
          <a:prstGeom prst="roundRect">
            <a:avLst>
              <a:gd name="adj" fmla="val 3509"/>
            </a:avLst>
          </a:prstGeom>
          <a:solidFill>
            <a:srgbClr val="F3F5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3544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35440" y="25603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Fabrication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235440" y="3154680"/>
            <a:ext cx="2240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 parametric, manufacturable layout ready to be etched on FR-4 PCB with an SMA feed.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Parameters &amp; Material Specification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340868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23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 5.0 / BLE / Zigbee ISM band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FR-4 Epoxy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low-cost PCB material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Dielectric Constant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permittivity of FR-4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Tangent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 δ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Dielectric loss factor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Thickness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1.6 mm PCB 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Substrate Dimensions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SubX × SubY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60.0 × 60.0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ground plane 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input resistance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 Length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28.85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Controls 2.45 GHz resonant 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 Line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Gives 50 Ω characteristic impedance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Inset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Impedance-matching feed insert depth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Notch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Inset cutout clearance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Lumped 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Ω matched excitation (SMA at fabrication)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 Antenna Geometry &amp; Parametric Setup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694944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7" name="Image 0" descr="model3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6711696" cy="4014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15584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HFSS 3D model of the inset-fed patch antenna, with the parametric variable table and radiation boundary shown.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80960" y="150876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</p:sp>
      <p:sp>
        <p:nvSpPr>
          <p:cNvPr id="10" name="Text 7"/>
          <p:cNvSpPr/>
          <p:nvPr/>
        </p:nvSpPr>
        <p:spPr>
          <a:xfrm>
            <a:off x="7863840" y="161848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863840" y="194767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× 60 × 1.6 mm FR-4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80960" y="2624328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27340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63840" y="3063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37.41 × 28.85 mm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680960" y="3739896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</p:sp>
      <p:sp>
        <p:nvSpPr>
          <p:cNvPr id="16" name="Text 13"/>
          <p:cNvSpPr/>
          <p:nvPr/>
        </p:nvSpPr>
        <p:spPr>
          <a:xfrm>
            <a:off x="7863840" y="3849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line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863840" y="41788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3.02 mm wide, 9.20 mm inset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680960" y="4855464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3F5FC"/>
          </a:solidFill>
          <a:ln/>
        </p:spPr>
      </p:sp>
      <p:sp>
        <p:nvSpPr>
          <p:cNvPr id="19" name="Text 16"/>
          <p:cNvSpPr/>
          <p:nvPr/>
        </p:nvSpPr>
        <p:spPr>
          <a:xfrm>
            <a:off x="7863840" y="49651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box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7863840" y="529437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boundary for open-space simulation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Methodology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inset-fed microstrip patch antenna operating at 2.45 GHz was modeled and simulated in ANSYS HFSS (Electronics Desktop, Student 2025 R2.4).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8" name="Shape 6"/>
          <p:cNvSpPr/>
          <p:nvPr/>
        </p:nvSpPr>
        <p:spPr>
          <a:xfrm>
            <a:off x="713232" y="24963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47802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Substrate &amp; Ground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Double-sided FR-4 epoxy substrate (εr = 4.4, h = 1.6 mm) with a full ground plane on the bottom layer.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23317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0560" y="24963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56048" y="247802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Modeling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8848" y="295351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variables (SubX, SubY, W, L, Wf, Fi, g) were used throughout, enabling fast optimization sweeps.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83296" y="233172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7888" y="249631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4788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23376" y="247802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Impedance Matching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66176" y="295351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inset feed (depth Fi = 9.20 mm, gap g = 1.00 mm) matches the 50 Ω microstrip line to the patch.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23" name="Shape 21"/>
          <p:cNvSpPr/>
          <p:nvPr/>
        </p:nvSpPr>
        <p:spPr>
          <a:xfrm>
            <a:off x="713232" y="46908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672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514807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 Ω lumped port was assigned across a vertical integration line from ground plane to feed line.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15968" y="45262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28" name="Shape 26"/>
          <p:cNvSpPr/>
          <p:nvPr/>
        </p:nvSpPr>
        <p:spPr>
          <a:xfrm>
            <a:off x="4480560" y="46908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448056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956048" y="4672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Boundary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498848" y="514807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 box surrounding the structure was assigned a radiation boundary to emulate open-space propagation.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083296" y="4526280"/>
            <a:ext cx="3584448" cy="1965960"/>
          </a:xfrm>
          <a:prstGeom prst="roundRect">
            <a:avLst>
              <a:gd name="adj" fmla="val 3721"/>
            </a:avLst>
          </a:prstGeom>
          <a:solidFill>
            <a:srgbClr val="F3F5FC"/>
          </a:solidFill>
          <a:ln/>
        </p:spPr>
      </p:sp>
      <p:sp>
        <p:nvSpPr>
          <p:cNvPr id="33" name="Shape 31"/>
          <p:cNvSpPr/>
          <p:nvPr/>
        </p:nvSpPr>
        <p:spPr>
          <a:xfrm>
            <a:off x="8247888" y="469087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8247888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723376" y="4672584"/>
            <a:ext cx="2761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Setup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66176" y="5148072"/>
            <a:ext cx="32186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Modal solution, discrete frequency sweep 2.0–3.0 GHz, 5 MHz (0.005 GHz) step resolution.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Loss (S₁₁) Performance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-16.40 dB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S₁₁ at resonance (marker m1)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0520" y="1600200"/>
            <a:ext cx="338328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173736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2.43 GHz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251960" y="2734056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resonant frequency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1600200"/>
            <a:ext cx="384048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863840" y="17373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2.383–2.4867 GHz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863840" y="2734056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dB impedance bandwidth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64240" cy="2514600"/>
          </a:xfrm>
          <a:prstGeom prst="roundRect">
            <a:avLst>
              <a:gd name="adj" fmla="val 3636"/>
            </a:avLst>
          </a:prstGeom>
          <a:solidFill>
            <a:srgbClr val="F3F5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S₁₁ sweep shows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sharp resonance dip of −16.40 dB occurs at 2.43 GHz, well below the standard −10 dB pass threshold, confirming a strong impedance match at resonance.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−10 dB bandwidth spans 2.400–2.4835 GHz — fully covering the ISM band required for Bluetooth Low Energy (BLE) and Zigbee (IEEE 802.15.4), despite the resonance sitting 20 MHz below the 2.45 GHz design target.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small frequency shift is typical of first-pass simulations and is easily corrected by trimming the patch length (L) slightly before fabrication — shorter L raises the resonant frequency.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Impedance Matching (VSWR)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37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273405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VSWR at 2.43 GHz (marker m1)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51960" y="1600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43400" y="173736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1.5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43400" y="2734056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VSWR threshold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60020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3F5FC"/>
          </a:solidFill>
          <a:ln w="12700">
            <a:solidFill>
              <a:srgbClr val="CADCFC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7373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95%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46720" y="2734056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delivered into antenna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11064240" cy="2514600"/>
          </a:xfrm>
          <a:prstGeom prst="roundRect">
            <a:avLst>
              <a:gd name="adj" fmla="val 3636"/>
            </a:avLst>
          </a:prstGeom>
          <a:solidFill>
            <a:srgbClr val="F3F5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886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VSWR curve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VSWR falls to 1.36 at 2.43 GHz, comfortably under the VSWR ≤ 1.5 criterion generally used to define a well-matched antenna.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VSWR this low means over 95% of the incident power from the 50 Ω feed is transferred into the antenna, with minimal reflection back toward the source — important for battery-powered IoT nodes where every milliwatt matters.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from resonance, VSWR rises sharply toward the edges of the 2.0–3.0 GHz sweep (&gt;25), which is expected — the patch is a narrowband resonant structure by design.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Radiation Pattern &amp; Simulation Validation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667512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pic>
        <p:nvPicPr>
          <p:cNvPr id="7" name="Image 0" descr="validation_gai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627632"/>
            <a:ext cx="6437376" cy="40142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815584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2: HFSS validation check (all categories passed), with the 2.45 GHz realized-gain polar pattern behind it.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452360" y="150876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Checklist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52360" y="1892808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1" name="Text 8"/>
          <p:cNvSpPr/>
          <p:nvPr/>
        </p:nvSpPr>
        <p:spPr>
          <a:xfrm>
            <a:off x="7452360" y="18562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54112" y="18470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Settings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452360" y="2276856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4" name="Text 11"/>
          <p:cNvSpPr/>
          <p:nvPr/>
        </p:nvSpPr>
        <p:spPr>
          <a:xfrm>
            <a:off x="7452360" y="22402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54112" y="22311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452360" y="2660904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17" name="Text 14"/>
          <p:cNvSpPr/>
          <p:nvPr/>
        </p:nvSpPr>
        <p:spPr>
          <a:xfrm>
            <a:off x="7452360" y="262432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54112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&amp; Excitations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452360" y="3044952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0" name="Text 17"/>
          <p:cNvSpPr/>
          <p:nvPr/>
        </p:nvSpPr>
        <p:spPr>
          <a:xfrm>
            <a:off x="7452360" y="300837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54112" y="2999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Mesh Operations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452360" y="3429000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3" name="Text 20"/>
          <p:cNvSpPr/>
          <p:nvPr/>
        </p:nvSpPr>
        <p:spPr>
          <a:xfrm>
            <a:off x="7452360" y="339242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754112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Setup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452360" y="3813048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6" name="Text 23"/>
          <p:cNvSpPr/>
          <p:nvPr/>
        </p:nvSpPr>
        <p:spPr>
          <a:xfrm>
            <a:off x="7452360" y="377647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754112" y="37673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Optimetrics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452360" y="4197096"/>
            <a:ext cx="201168" cy="201168"/>
          </a:xfrm>
          <a:prstGeom prst="ellipse">
            <a:avLst/>
          </a:prstGeom>
          <a:solidFill>
            <a:srgbClr val="1E8E3E"/>
          </a:solidFill>
          <a:ln/>
        </p:spPr>
      </p:sp>
      <p:sp>
        <p:nvSpPr>
          <p:cNvPr id="29" name="Text 26"/>
          <p:cNvSpPr/>
          <p:nvPr/>
        </p:nvSpPr>
        <p:spPr>
          <a:xfrm>
            <a:off x="7452360" y="41605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7754112" y="41513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452360" y="4617720"/>
            <a:ext cx="4160520" cy="1600200"/>
          </a:xfrm>
          <a:prstGeom prst="roundRect">
            <a:avLst>
              <a:gd name="adj" fmla="val 4571"/>
            </a:avLst>
          </a:prstGeom>
          <a:solidFill>
            <a:srgbClr val="F3F5FC"/>
          </a:solidFill>
          <a:ln/>
        </p:spPr>
      </p:sp>
      <p:sp>
        <p:nvSpPr>
          <p:cNvPr id="32" name="Text 29"/>
          <p:cNvSpPr/>
          <p:nvPr/>
        </p:nvSpPr>
        <p:spPr>
          <a:xfrm>
            <a:off x="7635240" y="4754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Radiation behavior</a:t>
            </a:r>
            <a:endParaRPr lang="en-US" sz="1250" dirty="0"/>
          </a:p>
        </p:txBody>
      </p:sp>
      <p:sp>
        <p:nvSpPr>
          <p:cNvPr id="33" name="Text 30"/>
          <p:cNvSpPr/>
          <p:nvPr/>
        </p:nvSpPr>
        <p:spPr>
          <a:xfrm>
            <a:off x="7635240" y="507492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Broadside pattern with peak realized gain directed at θ = 0° (perpendicular to the patch). Low cross-polarization and back-lobe levels indicate high radiation purity — suitable for IoT sensor nodes.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Summary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9721143"/>
              </p:ext>
            </p:extLst>
          </p:nvPr>
        </p:nvGraphicFramePr>
        <p:xfrm>
          <a:off x="548640" y="1508760"/>
          <a:ext cx="11064240" cy="19989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Result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Resonant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 GHz (target 2.45 GHz)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2.4–2.4835 GHz ISM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Loss (S₁₁)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−16.40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−10 dB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 dB Bandwidth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2.4383–2.4867 GHz (~48.4 MHz)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VSWR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Radiation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Broadside, low back-lobe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at θ = 0°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HFSS Validation 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/ 7 categories 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3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categories green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8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855040-25FC-5B38-FDC1-DF12ECCB0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78" y="339572"/>
            <a:ext cx="10529491" cy="5609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9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43000" y="731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Fabrication-Ready 2.45 GHz Antenna for IoT Nodes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143000" y="178308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inset-fed microstrip patch antenna was successfully designed, simulated, and analyzed in ANSYS HFSS for Bluetooth- and Zigbee-class IoT applications. The antenna resonates at 2.43 GHz with a VSWR of 1.36 and strong broadband, broadside radiation. The parametric layout is fabrication-ready for a standard double-sided 1.6 mm FR-4 PCB with a 50 Ω SMA connector, making it suitable for direct integration into compact IoT sensor nodes.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43000" y="3611880"/>
            <a:ext cx="1933042" cy="45720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3611880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2.43 GHz Resonance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77210" y="3611880"/>
            <a:ext cx="2201875" cy="45720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7210" y="3611880"/>
            <a:ext cx="220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−16.40 dB Return Loss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80253" y="3611880"/>
            <a:ext cx="1126541" cy="45720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80253" y="3611880"/>
            <a:ext cx="11265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VSWR 1.36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007962" y="3611880"/>
            <a:ext cx="2022653" cy="45720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07962" y="3611880"/>
            <a:ext cx="20226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Broadside Radiation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231782" y="3611880"/>
            <a:ext cx="2201875" cy="457200"/>
          </a:xfrm>
          <a:prstGeom prst="roundRect">
            <a:avLst>
              <a:gd name="adj" fmla="val 50000"/>
            </a:avLst>
          </a:prstGeom>
          <a:solidFill>
            <a:srgbClr val="2A3576"/>
          </a:solidFill>
          <a:ln w="9525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1782" y="3611880"/>
            <a:ext cx="22018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7/7 Validation Checks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43000" y="44348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frequency offset trimmed and the layout etched onto FR-4, this design is ready to move from simulation to a physical, measurable prototype (see Future Work).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51560" y="621792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&amp; Next Steps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resonance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278892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patch length (L) by a fraction of a mm to pull resonance from 2.43 GHz to exactly 2.45 GHz.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55448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517136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17136" y="226771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 the PCB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17136" y="278892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Etch the validated layout onto 1.6 mm FR-4 using standard photolithography or PCB milling.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55448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284464" y="226771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the SMA connector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84464" y="278892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Solder an edge-launch 50 Ω SMA connector at the feed point for lab measurement.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9808" y="48280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on a VNA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534924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S₁₁ and VSWR on a vector network analyzer and compare directly against the HFSS results.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411480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</p:spPr>
      </p:sp>
      <p:sp>
        <p:nvSpPr>
          <p:cNvPr id="23" name="Text 21"/>
          <p:cNvSpPr/>
          <p:nvPr/>
        </p:nvSpPr>
        <p:spPr>
          <a:xfrm>
            <a:off x="4517136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17136" y="48280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radiation pattern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17136" y="534924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fabricated prototype in an anechoic chamber or open-field range against the simulated pattern.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83296" y="4114800"/>
            <a:ext cx="3584448" cy="2331720"/>
          </a:xfrm>
          <a:prstGeom prst="roundRect">
            <a:avLst>
              <a:gd name="adj" fmla="val 3137"/>
            </a:avLst>
          </a:prstGeom>
          <a:solidFill>
            <a:srgbClr val="F3F5FC"/>
          </a:solidFill>
          <a:ln/>
        </p:spPr>
      </p:sp>
      <p:sp>
        <p:nvSpPr>
          <p:cNvPr id="27" name="Text 25"/>
          <p:cNvSpPr/>
          <p:nvPr/>
        </p:nvSpPr>
        <p:spPr>
          <a:xfrm>
            <a:off x="8284464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284464" y="48280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&amp; field-test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84464" y="5349240"/>
            <a:ext cx="3182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3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BLE/Zigbee module and test real-world link range and RSSI inside a housed IoT node.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 |  FR-4 PCB  |  HFSS Simulation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1600200"/>
            <a:ext cx="3657600" cy="365760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057400" y="822960"/>
            <a:ext cx="5212080" cy="521208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834640" y="45720"/>
            <a:ext cx="6766560" cy="676656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611880" y="-731520"/>
            <a:ext cx="8321040" cy="8321040"/>
          </a:xfrm>
          <a:prstGeom prst="ellipse">
            <a:avLst/>
          </a:prstGeom>
          <a:ln w="15875">
            <a:solidFill>
              <a:srgbClr val="3140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2651760"/>
            <a:ext cx="1216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0" y="352044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Microstrip Patch Antenna for Bluetooth/Zigbee IoT Nodes — Fabricated on FR-4 PCB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1766</Words>
  <Application>Microsoft Office PowerPoint</Application>
  <PresentationFormat>Widescreen</PresentationFormat>
  <Paragraphs>321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shailesh a</cp:lastModifiedBy>
  <cp:revision>2</cp:revision>
  <dcterms:created xsi:type="dcterms:W3CDTF">2026-09-09T21:34:06Z</dcterms:created>
  <dcterms:modified xsi:type="dcterms:W3CDTF">2026-09-10T09:15:31Z</dcterms:modified>
</cp:coreProperties>
</file>